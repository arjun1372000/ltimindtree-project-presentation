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58" r:id="rId5"/>
    <p:sldId id="262"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59" d="100"/>
          <a:sy n="59" d="100"/>
        </p:scale>
        <p:origin x="92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96DFF08F-DC6B-4601-B491-B0F83F6DD2DA}" type="datetimeFigureOut">
              <a:rPr lang="en-US" dirty="0"/>
              <a:pPr/>
              <a:t>8/28/2026</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8/28/2026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8/28/2026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8/28/2026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t>8/28/2026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8/28/2026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8/28/2026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96DFF08F-DC6B-4601-B491-B0F83F6DD2DA}" type="datetimeFigureOut">
              <a:rPr lang="en-US" dirty="0"/>
              <a:t>8/28/2026</a:t>
            </a:fld>
            <a:endParaRPr lang="en-US" dirty="0"/>
          </a:p>
        </p:txBody>
      </p:sp>
      <p:sp>
        <p:nvSpPr>
          <p:cNvPr id="5" name="Footer Placeholder 4"/>
          <p:cNvSpPr>
            <a:spLocks noGrp="1"/>
          </p:cNvSpPr>
          <p:nvPr>
            <p:ph type="ftr" sz="quarter" idx="11"/>
          </p:nvPr>
        </p:nvSpPr>
        <p:spPr>
          <a:xfrm>
            <a:off x="3776135" y="6422854"/>
            <a:ext cx="4279669" cy="365125"/>
          </a:xfrm>
        </p:spPr>
        <p:txBody>
          <a:bodyPr/>
          <a:lstStyle/>
          <a:p>
            <a:endParaRPr lang="en-US" dirty="0"/>
          </a:p>
        </p:txBody>
      </p:sp>
      <p:sp>
        <p:nvSpPr>
          <p:cNvPr id="6" name="Slide Number Placeholder 5"/>
          <p:cNvSpPr>
            <a:spLocks noGrp="1"/>
          </p:cNvSpPr>
          <p:nvPr>
            <p:ph type="sldNum" sz="quarter" idx="12"/>
          </p:nvPr>
        </p:nvSpPr>
        <p:spPr>
          <a:xfrm>
            <a:off x="8073048" y="6422854"/>
            <a:ext cx="879759" cy="365125"/>
          </a:xfrm>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96DFF08F-DC6B-4601-B491-B0F83F6DD2DA}" type="datetimeFigureOut">
              <a:rPr lang="en-US" dirty="0"/>
              <a:pPr/>
              <a:t>8/28/2026</a:t>
            </a:fld>
            <a:endParaRPr lang="en-US" dirty="0"/>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US" dirty="0"/>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4FAB73BC-B049-4115-A692-8D63A059BFB8}"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0ABC8-A49D-14D5-3BBC-A1AF953A3B22}"/>
              </a:ext>
            </a:extLst>
          </p:cNvPr>
          <p:cNvSpPr>
            <a:spLocks noGrp="1"/>
          </p:cNvSpPr>
          <p:nvPr>
            <p:ph type="ctrTitle"/>
          </p:nvPr>
        </p:nvSpPr>
        <p:spPr>
          <a:xfrm>
            <a:off x="272625" y="2139471"/>
            <a:ext cx="11471565" cy="1856779"/>
          </a:xfrm>
        </p:spPr>
        <p:txBody>
          <a:bodyPr>
            <a:normAutofit fontScale="90000"/>
          </a:bodyPr>
          <a:lstStyle/>
          <a:p>
            <a:r>
              <a:rPr lang="en-IN" sz="2600" b="1" dirty="0">
                <a:latin typeface="Times New Roman" panose="02020603050405020304" pitchFamily="18" charset="0"/>
                <a:cs typeface="Times New Roman" panose="02020603050405020304" pitchFamily="18" charset="0"/>
              </a:rPr>
              <a:t>P1: Deterministic MCP-Driven AI Agents for Ball Bearing Vibration Diagnostics</a:t>
            </a:r>
            <a:br>
              <a:rPr lang="en-IN" sz="2600" b="1" dirty="0">
                <a:latin typeface="Times New Roman" panose="02020603050405020304" pitchFamily="18" charset="0"/>
                <a:cs typeface="Times New Roman" panose="02020603050405020304" pitchFamily="18" charset="0"/>
              </a:rPr>
            </a:br>
            <a:br>
              <a:rPr lang="en-IN" sz="2600" b="1" dirty="0">
                <a:latin typeface="Times New Roman" panose="02020603050405020304" pitchFamily="18" charset="0"/>
                <a:cs typeface="Times New Roman" panose="02020603050405020304" pitchFamily="18" charset="0"/>
              </a:rPr>
            </a:br>
            <a:r>
              <a:rPr lang="en-IN" sz="2600" b="1" dirty="0">
                <a:latin typeface="Times New Roman" panose="02020603050405020304" pitchFamily="18" charset="0"/>
                <a:cs typeface="Times New Roman" panose="02020603050405020304" pitchFamily="18" charset="0"/>
              </a:rPr>
              <a:t>P2: Edge-Optimized RAG and Localized Failure Mitigation for Automated Assembly Lines Using Quantized SLM</a:t>
            </a:r>
          </a:p>
        </p:txBody>
      </p:sp>
      <p:sp>
        <p:nvSpPr>
          <p:cNvPr id="3" name="Subtitle 2">
            <a:extLst>
              <a:ext uri="{FF2B5EF4-FFF2-40B4-BE49-F238E27FC236}">
                <a16:creationId xmlns:a16="http://schemas.microsoft.com/office/drawing/2014/main" id="{5326F363-3ED0-85A1-174A-9BD4EAE81C5C}"/>
              </a:ext>
            </a:extLst>
          </p:cNvPr>
          <p:cNvSpPr>
            <a:spLocks noGrp="1"/>
          </p:cNvSpPr>
          <p:nvPr>
            <p:ph type="subTitle" idx="1"/>
          </p:nvPr>
        </p:nvSpPr>
        <p:spPr>
          <a:xfrm>
            <a:off x="1524000" y="4292583"/>
            <a:ext cx="9144000" cy="1955817"/>
          </a:xfrm>
        </p:spPr>
        <p:txBody>
          <a:bodyPr>
            <a:normAutofit/>
          </a:bodyPr>
          <a:lstStyle/>
          <a:p>
            <a:r>
              <a:rPr lang="en-IN" sz="2200" dirty="0">
                <a:latin typeface="Times New Roman" panose="02020603050405020304" pitchFamily="18" charset="0"/>
                <a:cs typeface="Times New Roman" panose="02020603050405020304" pitchFamily="18" charset="0"/>
              </a:rPr>
              <a:t>Presented By:</a:t>
            </a:r>
          </a:p>
          <a:p>
            <a:r>
              <a:rPr lang="en-IN" sz="2200" dirty="0">
                <a:latin typeface="Times New Roman" panose="02020603050405020304" pitchFamily="18" charset="0"/>
                <a:cs typeface="Times New Roman" panose="02020603050405020304" pitchFamily="18" charset="0"/>
              </a:rPr>
              <a:t>Arjun V P</a:t>
            </a:r>
          </a:p>
          <a:p>
            <a:r>
              <a:rPr lang="en-IN" sz="2200" dirty="0">
                <a:latin typeface="Times New Roman" panose="02020603050405020304" pitchFamily="18" charset="0"/>
                <a:cs typeface="Times New Roman" panose="02020603050405020304" pitchFamily="18" charset="0"/>
              </a:rPr>
              <a:t>T9987</a:t>
            </a:r>
          </a:p>
          <a:p>
            <a:r>
              <a:rPr lang="en-IN" sz="2200" dirty="0">
                <a:latin typeface="Times New Roman" panose="02020603050405020304" pitchFamily="18" charset="0"/>
                <a:cs typeface="Times New Roman" panose="02020603050405020304" pitchFamily="18" charset="0"/>
              </a:rPr>
              <a:t>VIT Chennai</a:t>
            </a:r>
          </a:p>
        </p:txBody>
      </p:sp>
      <p:pic>
        <p:nvPicPr>
          <p:cNvPr id="6" name="Picture 5" descr="LTIMindtree unveils new brand identity, proposes name change to LTM Limited">
            <a:extLst>
              <a:ext uri="{FF2B5EF4-FFF2-40B4-BE49-F238E27FC236}">
                <a16:creationId xmlns:a16="http://schemas.microsoft.com/office/drawing/2014/main" id="{0AB5E037-1858-0575-2AC6-A4910AFB26A7}"/>
              </a:ext>
            </a:extLst>
          </p:cNvPr>
          <p:cNvPicPr>
            <a:picLocks noChangeAspect="1"/>
          </p:cNvPicPr>
          <p:nvPr/>
        </p:nvPicPr>
        <p:blipFill>
          <a:blip r:embed="rId2"/>
          <a:stretch>
            <a:fillRect/>
          </a:stretch>
        </p:blipFill>
        <p:spPr>
          <a:xfrm>
            <a:off x="3759200" y="377314"/>
            <a:ext cx="2064738" cy="1161415"/>
          </a:xfrm>
          <a:prstGeom prst="rect">
            <a:avLst/>
          </a:prstGeom>
        </p:spPr>
      </p:pic>
      <p:sp>
        <p:nvSpPr>
          <p:cNvPr id="7" name="TextBox 6">
            <a:extLst>
              <a:ext uri="{FF2B5EF4-FFF2-40B4-BE49-F238E27FC236}">
                <a16:creationId xmlns:a16="http://schemas.microsoft.com/office/drawing/2014/main" id="{05BCCA5A-3E4D-12A2-0A80-6B67E563FA07}"/>
              </a:ext>
            </a:extLst>
          </p:cNvPr>
          <p:cNvSpPr txBox="1"/>
          <p:nvPr/>
        </p:nvSpPr>
        <p:spPr>
          <a:xfrm>
            <a:off x="6248400" y="727188"/>
            <a:ext cx="2946400"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ZEROTH REVIEW</a:t>
            </a:r>
          </a:p>
        </p:txBody>
      </p:sp>
      <p:sp>
        <p:nvSpPr>
          <p:cNvPr id="23" name="Rectangle 22">
            <a:extLst>
              <a:ext uri="{FF2B5EF4-FFF2-40B4-BE49-F238E27FC236}">
                <a16:creationId xmlns:a16="http://schemas.microsoft.com/office/drawing/2014/main" id="{6C8A1A24-5618-F3DF-85EF-7A46371796B4}"/>
              </a:ext>
            </a:extLst>
          </p:cNvPr>
          <p:cNvSpPr/>
          <p:nvPr/>
        </p:nvSpPr>
        <p:spPr>
          <a:xfrm>
            <a:off x="6096000" y="390911"/>
            <a:ext cx="5823375" cy="1161415"/>
          </a:xfrm>
          <a:prstGeom prst="rect">
            <a:avLst/>
          </a:prstGeom>
          <a:noFill/>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03178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DEDBD123-7946-DF1D-2EB8-C91DC3B59C9A}"/>
              </a:ext>
            </a:extLst>
          </p:cNvPr>
          <p:cNvSpPr txBox="1"/>
          <p:nvPr/>
        </p:nvSpPr>
        <p:spPr>
          <a:xfrm>
            <a:off x="0" y="0"/>
            <a:ext cx="12192000" cy="2308324"/>
          </a:xfrm>
          <a:prstGeom prst="rect">
            <a:avLst/>
          </a:prstGeom>
          <a:solidFill>
            <a:schemeClr val="tx1"/>
          </a:solidFill>
        </p:spPr>
        <p:txBody>
          <a:bodyPr wrap="square" rtlCol="0">
            <a:spAutoFit/>
          </a:bodyPr>
          <a:lstStyle/>
          <a:p>
            <a:pPr algn="ctr"/>
            <a:r>
              <a:rPr lang="en-GB" b="1" u="sng" dirty="0">
                <a:solidFill>
                  <a:schemeClr val="bg1"/>
                </a:solidFill>
                <a:latin typeface="Times New Roman" panose="02020603050405020304" pitchFamily="18" charset="0"/>
                <a:cs typeface="Times New Roman" panose="02020603050405020304" pitchFamily="18" charset="0"/>
              </a:rPr>
              <a:t>  Problem Statement  :</a:t>
            </a:r>
          </a:p>
          <a:p>
            <a:endParaRPr lang="en-GB" b="1" u="sng" dirty="0">
              <a:solidFill>
                <a:schemeClr val="bg1"/>
              </a:solidFill>
              <a:latin typeface="Times New Roman" panose="02020603050405020304" pitchFamily="18" charset="0"/>
              <a:cs typeface="Times New Roman" panose="02020603050405020304" pitchFamily="18" charset="0"/>
            </a:endParaRPr>
          </a:p>
          <a:p>
            <a:pPr lvl="1"/>
            <a:r>
              <a:rPr lang="en-GB" dirty="0">
                <a:solidFill>
                  <a:schemeClr val="bg1"/>
                </a:solidFill>
                <a:latin typeface="Times New Roman" panose="02020603050405020304" pitchFamily="18" charset="0"/>
                <a:cs typeface="Times New Roman" panose="02020603050405020304" pitchFamily="18" charset="0"/>
              </a:rPr>
              <a:t>Industrial rotating machinery is highly susceptible to bearing faults, which can lead to unexpected downtime, reduced operational efficiency, and increased maintenance costs. Traditional AI-based diagnostic systems often rely on probabilistic outputs, making root-cause analysis less transparent and difficult to validate. This project aims to develop a Deterministic MCP (Model Context Protocol)-Driven AI Agent that can accurately detect and diagnose ball bearing health conditions from vibration signals while providing consistent, explainable, and reproducible fault identification results.</a:t>
            </a:r>
          </a:p>
          <a:p>
            <a:endParaRPr lang="en-GB" dirty="0">
              <a:solidFill>
                <a:schemeClr val="bg1"/>
              </a:solidFill>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5219C80D-73DB-1484-563A-185B1E4D75BD}"/>
              </a:ext>
            </a:extLst>
          </p:cNvPr>
          <p:cNvSpPr txBox="1"/>
          <p:nvPr/>
        </p:nvSpPr>
        <p:spPr>
          <a:xfrm>
            <a:off x="0" y="2413337"/>
            <a:ext cx="12192000" cy="1477328"/>
          </a:xfrm>
          <a:prstGeom prst="rect">
            <a:avLst/>
          </a:prstGeom>
          <a:noFill/>
        </p:spPr>
        <p:txBody>
          <a:bodyPr wrap="square" rtlCol="0">
            <a:spAutoFit/>
          </a:bodyPr>
          <a:lstStyle/>
          <a:p>
            <a:pPr algn="ctr"/>
            <a:r>
              <a:rPr lang="en-GB" b="1" u="sng" dirty="0">
                <a:latin typeface="Times New Roman" panose="02020603050405020304" pitchFamily="18" charset="0"/>
                <a:cs typeface="Times New Roman" panose="02020603050405020304" pitchFamily="18" charset="0"/>
              </a:rPr>
              <a:t>  Objective  :</a:t>
            </a:r>
          </a:p>
          <a:p>
            <a:endParaRPr lang="en-GB" dirty="0">
              <a:latin typeface="Times New Roman" panose="02020603050405020304" pitchFamily="18" charset="0"/>
              <a:cs typeface="Times New Roman" panose="02020603050405020304" pitchFamily="18" charset="0"/>
            </a:endParaRPr>
          </a:p>
          <a:p>
            <a:pPr lvl="1"/>
            <a:r>
              <a:rPr lang="en-GB" dirty="0">
                <a:latin typeface="Times New Roman" panose="02020603050405020304" pitchFamily="18" charset="0"/>
                <a:cs typeface="Times New Roman" panose="02020603050405020304" pitchFamily="18" charset="0"/>
              </a:rPr>
              <a:t>To develop a Deterministic MCP-Driven AI Agent using ISO standards that enables maintenance engineers and reliability teams to perform consistent, explainable, and accurate ball bearing fault diagnosis, reducing unplanned equipment failures and improving maintenance decision-making.</a:t>
            </a:r>
            <a:endParaRPr lang="en-IN"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AE3C3497-3B5A-30E3-3CD0-1EC8266EB4FF}"/>
              </a:ext>
            </a:extLst>
          </p:cNvPr>
          <p:cNvSpPr txBox="1"/>
          <p:nvPr/>
        </p:nvSpPr>
        <p:spPr>
          <a:xfrm>
            <a:off x="0" y="3995678"/>
            <a:ext cx="12192000" cy="3139321"/>
          </a:xfrm>
          <a:prstGeom prst="rect">
            <a:avLst/>
          </a:prstGeom>
          <a:solidFill>
            <a:schemeClr val="tx1"/>
          </a:solidFill>
        </p:spPr>
        <p:txBody>
          <a:bodyPr wrap="square" rtlCol="0">
            <a:spAutoFit/>
          </a:bodyPr>
          <a:lstStyle/>
          <a:p>
            <a:endParaRPr lang="en-GB" b="1" u="sng" dirty="0">
              <a:solidFill>
                <a:schemeClr val="bg1"/>
              </a:solidFill>
              <a:latin typeface="Times New Roman" panose="02020603050405020304" pitchFamily="18" charset="0"/>
              <a:cs typeface="Times New Roman" panose="02020603050405020304" pitchFamily="18" charset="0"/>
            </a:endParaRPr>
          </a:p>
          <a:p>
            <a:pPr algn="ctr"/>
            <a:r>
              <a:rPr lang="en-GB" b="1" u="sng" dirty="0">
                <a:solidFill>
                  <a:schemeClr val="bg1"/>
                </a:solidFill>
                <a:latin typeface="Times New Roman" panose="02020603050405020304" pitchFamily="18" charset="0"/>
                <a:cs typeface="Times New Roman" panose="02020603050405020304" pitchFamily="18" charset="0"/>
              </a:rPr>
              <a:t>  Dataset  :</a:t>
            </a:r>
          </a:p>
          <a:p>
            <a:endParaRPr lang="en-GB" u="sng" dirty="0">
              <a:solidFill>
                <a:schemeClr val="bg1"/>
              </a:solidFill>
              <a:latin typeface="Times New Roman" panose="02020603050405020304" pitchFamily="18" charset="0"/>
              <a:cs typeface="Times New Roman" panose="02020603050405020304" pitchFamily="18" charset="0"/>
            </a:endParaRPr>
          </a:p>
          <a:p>
            <a:pPr lvl="1" fontAlgn="t"/>
            <a:r>
              <a:rPr lang="en-IN" b="1" dirty="0">
                <a:solidFill>
                  <a:schemeClr val="bg1"/>
                </a:solidFill>
                <a:latin typeface="Times New Roman" panose="02020603050405020304" pitchFamily="18" charset="0"/>
                <a:cs typeface="Times New Roman" panose="02020603050405020304" pitchFamily="18" charset="0"/>
              </a:rPr>
              <a:t>NASA IMS Bearing Dataset</a:t>
            </a:r>
          </a:p>
          <a:p>
            <a:pPr marL="800100" lvl="1" indent="-342900" fontAlgn="t">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3 run-to-failure experiments conducted on 4 bearings. </a:t>
            </a:r>
          </a:p>
          <a:p>
            <a:pPr marL="800100" lvl="1" indent="-342900" fontAlgn="t">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Vibration signals collected at a 20 kHz sampling rate.</a:t>
            </a:r>
          </a:p>
          <a:p>
            <a:pPr marL="800100" lvl="1" indent="-342900" fontAlgn="t">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Each recording contains 20,480 data points (1-second snapshot).</a:t>
            </a:r>
          </a:p>
          <a:p>
            <a:pPr marL="800100" lvl="1" indent="-342900" fontAlgn="t">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Bearings operated at 2000 RPM under 6000 lbs load. </a:t>
            </a:r>
          </a:p>
          <a:p>
            <a:pPr marL="800100" lvl="1" indent="-342900" fontAlgn="t">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Includes healthy, degrading, and failed bearing conditions for fault diagnosis and prognostics.</a:t>
            </a:r>
          </a:p>
          <a:p>
            <a:pPr lvl="1" fontAlgn="t"/>
            <a:r>
              <a:rPr lang="en-IN" dirty="0">
                <a:solidFill>
                  <a:schemeClr val="bg1"/>
                </a:solidFill>
                <a:latin typeface="Times New Roman" panose="02020603050405020304" pitchFamily="18" charset="0"/>
                <a:cs typeface="Times New Roman" panose="02020603050405020304" pitchFamily="18" charset="0"/>
              </a:rPr>
              <a:t>Key Metrics: 20 kHz • 20,480 points/sample • 4 bearings • 3 test runs • 2000 RPM • 6000 lbs load</a:t>
            </a:r>
          </a:p>
          <a:p>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302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765CE0-3D6C-A1D3-E38D-C03F1F2AD69A}"/>
              </a:ext>
            </a:extLst>
          </p:cNvPr>
          <p:cNvSpPr txBox="1"/>
          <p:nvPr/>
        </p:nvSpPr>
        <p:spPr>
          <a:xfrm>
            <a:off x="0" y="0"/>
            <a:ext cx="12192000" cy="3477875"/>
          </a:xfrm>
          <a:prstGeom prst="rect">
            <a:avLst/>
          </a:prstGeom>
          <a:solidFill>
            <a:schemeClr val="tx1"/>
          </a:solidFill>
        </p:spPr>
        <p:txBody>
          <a:bodyPr wrap="square" rtlCol="0">
            <a:spAutoFit/>
          </a:bodyPr>
          <a:lstStyle/>
          <a:p>
            <a:pPr algn="ctr"/>
            <a:r>
              <a:rPr lang="en-GB" sz="2000" b="1" u="sng" dirty="0">
                <a:solidFill>
                  <a:schemeClr val="bg1"/>
                </a:solidFill>
                <a:latin typeface="Times New Roman" panose="02020603050405020304" pitchFamily="18" charset="0"/>
                <a:cs typeface="Times New Roman" panose="02020603050405020304" pitchFamily="18" charset="0"/>
              </a:rPr>
              <a:t>  Technology Stack  :</a:t>
            </a:r>
          </a:p>
          <a:p>
            <a:endParaRPr lang="en-GB" sz="2000" b="1" u="sng" dirty="0">
              <a:solidFill>
                <a:schemeClr val="bg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sz="2000" dirty="0">
                <a:solidFill>
                  <a:schemeClr val="bg1"/>
                </a:solidFill>
                <a:latin typeface="Times New Roman" panose="02020603050405020304" pitchFamily="18" charset="0"/>
                <a:cs typeface="Times New Roman" panose="02020603050405020304" pitchFamily="18" charset="0"/>
              </a:rPr>
              <a:t>Dataset: NASA IMS Bearing Dataset</a:t>
            </a:r>
          </a:p>
          <a:p>
            <a:pPr marL="742950" lvl="1" indent="-285750">
              <a:buFont typeface="Arial" panose="020B0604020202020204" pitchFamily="34" charset="0"/>
              <a:buChar char="•"/>
            </a:pPr>
            <a:r>
              <a:rPr lang="en-IN" sz="2000" dirty="0">
                <a:solidFill>
                  <a:schemeClr val="bg1"/>
                </a:solidFill>
                <a:latin typeface="Times New Roman" panose="02020603050405020304" pitchFamily="18" charset="0"/>
                <a:cs typeface="Times New Roman" panose="02020603050405020304" pitchFamily="18" charset="0"/>
              </a:rPr>
              <a:t>Programming: Python</a:t>
            </a:r>
          </a:p>
          <a:p>
            <a:pPr marL="742950" lvl="1" indent="-285750">
              <a:buFont typeface="Arial" panose="020B0604020202020204" pitchFamily="34" charset="0"/>
              <a:buChar char="•"/>
            </a:pPr>
            <a:r>
              <a:rPr lang="en-IN" sz="2000" dirty="0">
                <a:solidFill>
                  <a:schemeClr val="bg1"/>
                </a:solidFill>
                <a:latin typeface="Times New Roman" panose="02020603050405020304" pitchFamily="18" charset="0"/>
                <a:cs typeface="Times New Roman" panose="02020603050405020304" pitchFamily="18" charset="0"/>
              </a:rPr>
              <a:t>Data Processing: NumPy, Pandas</a:t>
            </a:r>
          </a:p>
          <a:p>
            <a:pPr marL="742950" lvl="1" indent="-285750">
              <a:buFont typeface="Arial" panose="020B0604020202020204" pitchFamily="34" charset="0"/>
              <a:buChar char="•"/>
            </a:pPr>
            <a:r>
              <a:rPr lang="en-IN" sz="2000" dirty="0">
                <a:solidFill>
                  <a:schemeClr val="bg1"/>
                </a:solidFill>
                <a:latin typeface="Times New Roman" panose="02020603050405020304" pitchFamily="18" charset="0"/>
                <a:cs typeface="Times New Roman" panose="02020603050405020304" pitchFamily="18" charset="0"/>
              </a:rPr>
              <a:t>Signal Processing: SciPy, FFT, Wavelet Analysis</a:t>
            </a:r>
          </a:p>
          <a:p>
            <a:pPr marL="742950" lvl="1" indent="-285750">
              <a:buFont typeface="Arial" panose="020B0604020202020204" pitchFamily="34" charset="0"/>
              <a:buChar char="•"/>
            </a:pPr>
            <a:r>
              <a:rPr lang="en-IN" sz="2000" dirty="0">
                <a:solidFill>
                  <a:schemeClr val="bg1"/>
                </a:solidFill>
                <a:latin typeface="Times New Roman" panose="02020603050405020304" pitchFamily="18" charset="0"/>
                <a:cs typeface="Times New Roman" panose="02020603050405020304" pitchFamily="18" charset="0"/>
              </a:rPr>
              <a:t>Machine Learning: Scikit-learn, </a:t>
            </a:r>
            <a:r>
              <a:rPr lang="en-IN" sz="2000" dirty="0" err="1">
                <a:solidFill>
                  <a:schemeClr val="bg1"/>
                </a:solidFill>
                <a:latin typeface="Times New Roman" panose="02020603050405020304" pitchFamily="18" charset="0"/>
                <a:cs typeface="Times New Roman" panose="02020603050405020304" pitchFamily="18" charset="0"/>
              </a:rPr>
              <a:t>XGBoost</a:t>
            </a:r>
            <a:endParaRPr lang="en-IN" sz="2000" dirty="0">
              <a:solidFill>
                <a:schemeClr val="bg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sz="2000" dirty="0">
                <a:solidFill>
                  <a:schemeClr val="bg1"/>
                </a:solidFill>
                <a:latin typeface="Times New Roman" panose="02020603050405020304" pitchFamily="18" charset="0"/>
                <a:cs typeface="Times New Roman" panose="02020603050405020304" pitchFamily="18" charset="0"/>
              </a:rPr>
              <a:t>AI Agent Framework: MCP (Model Context Protocol)</a:t>
            </a:r>
          </a:p>
          <a:p>
            <a:pPr marL="742950" lvl="1" indent="-285750">
              <a:buFont typeface="Arial" panose="020B0604020202020204" pitchFamily="34" charset="0"/>
              <a:buChar char="•"/>
            </a:pPr>
            <a:r>
              <a:rPr lang="en-IN" sz="2000" dirty="0">
                <a:solidFill>
                  <a:schemeClr val="bg1"/>
                </a:solidFill>
                <a:latin typeface="Times New Roman" panose="02020603050405020304" pitchFamily="18" charset="0"/>
                <a:cs typeface="Times New Roman" panose="02020603050405020304" pitchFamily="18" charset="0"/>
              </a:rPr>
              <a:t>Visualization: Matplotlib, Seaborn</a:t>
            </a:r>
          </a:p>
          <a:p>
            <a:pPr marL="742950" lvl="1" indent="-285750">
              <a:buFont typeface="Arial" panose="020B0604020202020204" pitchFamily="34" charset="0"/>
              <a:buChar char="•"/>
            </a:pPr>
            <a:r>
              <a:rPr lang="en-IN" sz="2000" dirty="0">
                <a:solidFill>
                  <a:schemeClr val="bg1"/>
                </a:solidFill>
                <a:latin typeface="Times New Roman" panose="02020603050405020304" pitchFamily="18" charset="0"/>
                <a:cs typeface="Times New Roman" panose="02020603050405020304" pitchFamily="18" charset="0"/>
              </a:rPr>
              <a:t>Deployment: Edge Device / Local Server</a:t>
            </a:r>
          </a:p>
          <a:p>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0AD222C-6F9C-6CC8-908B-9FD9DB334F1E}"/>
              </a:ext>
            </a:extLst>
          </p:cNvPr>
          <p:cNvSpPr txBox="1"/>
          <p:nvPr/>
        </p:nvSpPr>
        <p:spPr>
          <a:xfrm>
            <a:off x="0" y="3494093"/>
            <a:ext cx="12192000" cy="2246769"/>
          </a:xfrm>
          <a:prstGeom prst="rect">
            <a:avLst/>
          </a:prstGeom>
          <a:noFill/>
        </p:spPr>
        <p:txBody>
          <a:bodyPr wrap="square" rtlCol="0">
            <a:spAutoFit/>
          </a:bodyPr>
          <a:lstStyle/>
          <a:p>
            <a:endParaRPr lang="en-GB" sz="2000" b="1" u="sng" dirty="0">
              <a:latin typeface="Times New Roman" panose="02020603050405020304" pitchFamily="18" charset="0"/>
              <a:cs typeface="Times New Roman" panose="02020603050405020304" pitchFamily="18" charset="0"/>
            </a:endParaRPr>
          </a:p>
          <a:p>
            <a:pPr algn="ctr"/>
            <a:r>
              <a:rPr lang="en-GB" sz="2000" b="1" u="sng" dirty="0">
                <a:latin typeface="Times New Roman" panose="02020603050405020304" pitchFamily="18" charset="0"/>
                <a:cs typeface="Times New Roman" panose="02020603050405020304" pitchFamily="18" charset="0"/>
              </a:rPr>
              <a:t>  Expected Outcome  :</a:t>
            </a:r>
          </a:p>
          <a:p>
            <a:endParaRPr lang="en-GB"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Accurate detection of bearing health states (Healthy/Faulty).</a:t>
            </a:r>
          </a:p>
          <a:p>
            <a:pPr marL="742950" lvl="1"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Explainable and deterministic fault diagnosis.</a:t>
            </a:r>
          </a:p>
          <a:p>
            <a:pPr marL="742950" lvl="1"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Reduced unplanned maintenance and equipment downtime.</a:t>
            </a:r>
          </a:p>
          <a:p>
            <a:pPr marL="742950" lvl="1"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Real-time vibration monitoring and decision support for maintenance teams.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5661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431FE-FA90-6ED3-20F5-19CA5C3BB1ED}"/>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70A0B827-89B0-6530-F252-6A42EB21495B}"/>
              </a:ext>
            </a:extLst>
          </p:cNvPr>
          <p:cNvSpPr txBox="1"/>
          <p:nvPr/>
        </p:nvSpPr>
        <p:spPr>
          <a:xfrm>
            <a:off x="0" y="0"/>
            <a:ext cx="12192000" cy="2031325"/>
          </a:xfrm>
          <a:prstGeom prst="rect">
            <a:avLst/>
          </a:prstGeom>
          <a:solidFill>
            <a:schemeClr val="tx1"/>
          </a:solidFill>
        </p:spPr>
        <p:txBody>
          <a:bodyPr wrap="square" rtlCol="0">
            <a:spAutoFit/>
          </a:bodyPr>
          <a:lstStyle/>
          <a:p>
            <a:pPr algn="ctr"/>
            <a:r>
              <a:rPr lang="en-GB" b="1" u="sng" dirty="0">
                <a:solidFill>
                  <a:schemeClr val="bg1"/>
                </a:solidFill>
                <a:latin typeface="Times New Roman" panose="02020603050405020304" pitchFamily="18" charset="0"/>
                <a:cs typeface="Times New Roman" panose="02020603050405020304" pitchFamily="18" charset="0"/>
              </a:rPr>
              <a:t>  Problem Statement  : </a:t>
            </a:r>
          </a:p>
          <a:p>
            <a:endParaRPr lang="en-GB" b="1" u="sng" dirty="0">
              <a:solidFill>
                <a:schemeClr val="bg1"/>
              </a:solidFill>
              <a:latin typeface="Times New Roman" panose="02020603050405020304" pitchFamily="18" charset="0"/>
              <a:cs typeface="Times New Roman" panose="02020603050405020304" pitchFamily="18" charset="0"/>
            </a:endParaRPr>
          </a:p>
          <a:p>
            <a:pPr lvl="1"/>
            <a:r>
              <a:rPr lang="en-GB" dirty="0">
                <a:solidFill>
                  <a:schemeClr val="bg1"/>
                </a:solidFill>
                <a:latin typeface="Times New Roman" panose="02020603050405020304" pitchFamily="18" charset="0"/>
                <a:cs typeface="Times New Roman" panose="02020603050405020304" pitchFamily="18" charset="0"/>
              </a:rPr>
              <a:t>Automated assembly lines require rapid and reliable failure diagnosis to minimize downtime and maintain production efficiency. Cloud-based solutions can introduce latency and connectivity constraints, while traditional AI models may be too resource-intensive for edge deployment. There is a need for an edge-optimized, explainable system that can retrieve relevant failure knowledge and provide localized mitigation recommendations in real time.</a:t>
            </a:r>
          </a:p>
          <a:p>
            <a:endParaRPr lang="en-GB" dirty="0">
              <a:solidFill>
                <a:schemeClr val="bg1"/>
              </a:solidFill>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109E30B9-A25A-6B20-BB6E-D7DE8D1865B4}"/>
              </a:ext>
            </a:extLst>
          </p:cNvPr>
          <p:cNvSpPr txBox="1"/>
          <p:nvPr/>
        </p:nvSpPr>
        <p:spPr>
          <a:xfrm>
            <a:off x="0" y="2308324"/>
            <a:ext cx="12192000" cy="1477328"/>
          </a:xfrm>
          <a:prstGeom prst="rect">
            <a:avLst/>
          </a:prstGeom>
          <a:noFill/>
        </p:spPr>
        <p:txBody>
          <a:bodyPr wrap="square" rtlCol="0">
            <a:spAutoFit/>
          </a:bodyPr>
          <a:lstStyle/>
          <a:p>
            <a:pPr algn="ctr"/>
            <a:r>
              <a:rPr lang="en-GB" b="1" u="sng" dirty="0">
                <a:latin typeface="Times New Roman" panose="02020603050405020304" pitchFamily="18" charset="0"/>
                <a:cs typeface="Times New Roman" panose="02020603050405020304" pitchFamily="18" charset="0"/>
              </a:rPr>
              <a:t>  Objective  :</a:t>
            </a:r>
          </a:p>
          <a:p>
            <a:endParaRPr lang="en-GB" dirty="0">
              <a:latin typeface="Times New Roman" panose="02020603050405020304" pitchFamily="18" charset="0"/>
              <a:cs typeface="Times New Roman" panose="02020603050405020304" pitchFamily="18" charset="0"/>
            </a:endParaRPr>
          </a:p>
          <a:p>
            <a:pPr lvl="1"/>
            <a:r>
              <a:rPr lang="en-GB" dirty="0">
                <a:latin typeface="Times New Roman" panose="02020603050405020304" pitchFamily="18" charset="0"/>
                <a:cs typeface="Times New Roman" panose="02020603050405020304" pitchFamily="18" charset="0"/>
              </a:rPr>
              <a:t>To develop an Edge-Optimized RAG system using a Quantized Small Language Model (SLM) that assists maintenance operators and production engineers in identifying machine failures and recommending localized mitigation actions with low latency and minimal computational resources.</a:t>
            </a:r>
            <a:endParaRPr lang="en-IN"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3E5C2A95-E003-612C-CC6B-C540A2FA7C24}"/>
              </a:ext>
            </a:extLst>
          </p:cNvPr>
          <p:cNvSpPr txBox="1"/>
          <p:nvPr/>
        </p:nvSpPr>
        <p:spPr>
          <a:xfrm>
            <a:off x="0" y="4272677"/>
            <a:ext cx="12192000" cy="2585323"/>
          </a:xfrm>
          <a:prstGeom prst="rect">
            <a:avLst/>
          </a:prstGeom>
          <a:solidFill>
            <a:schemeClr val="tx1"/>
          </a:solidFill>
        </p:spPr>
        <p:txBody>
          <a:bodyPr wrap="square" rtlCol="0">
            <a:spAutoFit/>
          </a:bodyPr>
          <a:lstStyle/>
          <a:p>
            <a:pPr algn="ctr"/>
            <a:r>
              <a:rPr lang="en-GB" b="1" u="sng" dirty="0">
                <a:solidFill>
                  <a:schemeClr val="bg1"/>
                </a:solidFill>
                <a:latin typeface="Times New Roman" panose="02020603050405020304" pitchFamily="18" charset="0"/>
                <a:cs typeface="Times New Roman" panose="02020603050405020304" pitchFamily="18" charset="0"/>
              </a:rPr>
              <a:t>  Dataset  :</a:t>
            </a:r>
          </a:p>
          <a:p>
            <a:endParaRPr lang="en-GB" u="sng" dirty="0">
              <a:solidFill>
                <a:schemeClr val="bg1"/>
              </a:solidFill>
              <a:latin typeface="Times New Roman" panose="02020603050405020304" pitchFamily="18" charset="0"/>
              <a:cs typeface="Times New Roman" panose="02020603050405020304" pitchFamily="18" charset="0"/>
            </a:endParaRPr>
          </a:p>
          <a:p>
            <a:pPr lvl="1" fontAlgn="t"/>
            <a:r>
              <a:rPr lang="en-IN" b="1" dirty="0">
                <a:solidFill>
                  <a:schemeClr val="bg1"/>
                </a:solidFill>
                <a:latin typeface="Times New Roman" panose="02020603050405020304" pitchFamily="18" charset="0"/>
                <a:cs typeface="Times New Roman" panose="02020603050405020304" pitchFamily="18" charset="0"/>
              </a:rPr>
              <a:t>AI4I 2020 Predictive Maintenance</a:t>
            </a:r>
          </a:p>
          <a:p>
            <a:pPr marL="742950" lvl="1" indent="-285750" fontAlgn="t">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10,000 machine operation records with 14 attributes.</a:t>
            </a:r>
          </a:p>
          <a:p>
            <a:pPr marL="742950" lvl="1" indent="-285750" fontAlgn="t">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Key sensor features: Air Temperature, Process Temperature, Rotational Speed, Torque, and Tool Wear.</a:t>
            </a:r>
          </a:p>
          <a:p>
            <a:pPr marL="742950" lvl="1" indent="-285750" fontAlgn="t">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Includes Machine Failure labels and 5 failure modes: TWF, HDF, PWF, OSF, and RNF.</a:t>
            </a:r>
          </a:p>
          <a:p>
            <a:pPr marL="742950" lvl="1" indent="-285750" fontAlgn="t">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Suitable for predictive maintenance, fault diagnosis, and failure classification tasks.</a:t>
            </a:r>
          </a:p>
          <a:p>
            <a:pPr lvl="1" fontAlgn="t"/>
            <a:r>
              <a:rPr lang="en-IN" dirty="0">
                <a:solidFill>
                  <a:schemeClr val="bg1"/>
                </a:solidFill>
                <a:latin typeface="Times New Roman" panose="02020603050405020304" pitchFamily="18" charset="0"/>
                <a:cs typeface="Times New Roman" panose="02020603050405020304" pitchFamily="18" charset="0"/>
              </a:rPr>
              <a:t>Key Metrics: 10,000 Records • 14 Attributes • 5 Sensor Features • 5 Failure Modes.</a:t>
            </a:r>
          </a:p>
          <a:p>
            <a:pPr fontAlgn="t">
              <a:lnSpc>
                <a:spcPct val="100000"/>
              </a:lnSpc>
            </a:pP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2154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9D2F6-CB85-2E38-1DC0-B69C5483944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22D79C-ED29-7A6D-905A-8BBDF8BC81C0}"/>
              </a:ext>
            </a:extLst>
          </p:cNvPr>
          <p:cNvSpPr txBox="1"/>
          <p:nvPr/>
        </p:nvSpPr>
        <p:spPr>
          <a:xfrm>
            <a:off x="0" y="0"/>
            <a:ext cx="12192000" cy="3477875"/>
          </a:xfrm>
          <a:prstGeom prst="rect">
            <a:avLst/>
          </a:prstGeom>
          <a:solidFill>
            <a:schemeClr val="tx1"/>
          </a:solidFill>
        </p:spPr>
        <p:txBody>
          <a:bodyPr wrap="square" rtlCol="0">
            <a:spAutoFit/>
          </a:bodyPr>
          <a:lstStyle/>
          <a:p>
            <a:pPr algn="ctr"/>
            <a:r>
              <a:rPr lang="en-GB" sz="2000" b="1" u="sng" dirty="0">
                <a:solidFill>
                  <a:schemeClr val="bg1"/>
                </a:solidFill>
                <a:latin typeface="Times New Roman" panose="02020603050405020304" pitchFamily="18" charset="0"/>
                <a:cs typeface="Times New Roman" panose="02020603050405020304" pitchFamily="18" charset="0"/>
              </a:rPr>
              <a:t>  Technology Stack  :</a:t>
            </a:r>
          </a:p>
          <a:p>
            <a:endParaRPr lang="en-GB" sz="2000" b="1" u="sng" dirty="0">
              <a:solidFill>
                <a:schemeClr val="bg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sz="2000" dirty="0">
                <a:solidFill>
                  <a:schemeClr val="bg1"/>
                </a:solidFill>
                <a:latin typeface="Times New Roman" panose="02020603050405020304" pitchFamily="18" charset="0"/>
                <a:cs typeface="Times New Roman" panose="02020603050405020304" pitchFamily="18" charset="0"/>
              </a:rPr>
              <a:t>Dataset: AI4I 2020 Predictive Maintenance Dataset</a:t>
            </a:r>
          </a:p>
          <a:p>
            <a:pPr marL="742950" lvl="1" indent="-285750">
              <a:buFont typeface="Arial" panose="020B0604020202020204" pitchFamily="34" charset="0"/>
              <a:buChar char="•"/>
            </a:pPr>
            <a:r>
              <a:rPr lang="en-IN" sz="2000" dirty="0">
                <a:solidFill>
                  <a:schemeClr val="bg1"/>
                </a:solidFill>
                <a:latin typeface="Times New Roman" panose="02020603050405020304" pitchFamily="18" charset="0"/>
                <a:cs typeface="Times New Roman" panose="02020603050405020304" pitchFamily="18" charset="0"/>
              </a:rPr>
              <a:t>Programming: </a:t>
            </a:r>
            <a:r>
              <a:rPr lang="en-IN" sz="2000" dirty="0" err="1">
                <a:solidFill>
                  <a:schemeClr val="bg1"/>
                </a:solidFill>
                <a:latin typeface="Times New Roman" panose="02020603050405020304" pitchFamily="18" charset="0"/>
                <a:cs typeface="Times New Roman" panose="02020603050405020304" pitchFamily="18" charset="0"/>
              </a:rPr>
              <a:t>PythonML</a:t>
            </a:r>
            <a:r>
              <a:rPr lang="en-IN" sz="2000" dirty="0">
                <a:solidFill>
                  <a:schemeClr val="bg1"/>
                </a:solidFill>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IN" sz="2000" dirty="0">
                <a:solidFill>
                  <a:schemeClr val="bg1"/>
                </a:solidFill>
                <a:latin typeface="Times New Roman" panose="02020603050405020304" pitchFamily="18" charset="0"/>
                <a:cs typeface="Times New Roman" panose="02020603050405020304" pitchFamily="18" charset="0"/>
              </a:rPr>
              <a:t>Frameworks: Scikit-learn, </a:t>
            </a:r>
            <a:r>
              <a:rPr lang="en-IN" sz="2000" dirty="0" err="1">
                <a:solidFill>
                  <a:schemeClr val="bg1"/>
                </a:solidFill>
                <a:latin typeface="Times New Roman" panose="02020603050405020304" pitchFamily="18" charset="0"/>
                <a:cs typeface="Times New Roman" panose="02020603050405020304" pitchFamily="18" charset="0"/>
              </a:rPr>
              <a:t>XGBoost</a:t>
            </a:r>
            <a:endParaRPr lang="en-IN" sz="2000" dirty="0">
              <a:solidFill>
                <a:schemeClr val="bg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sz="2000" dirty="0">
                <a:solidFill>
                  <a:schemeClr val="bg1"/>
                </a:solidFill>
                <a:latin typeface="Times New Roman" panose="02020603050405020304" pitchFamily="18" charset="0"/>
                <a:cs typeface="Times New Roman" panose="02020603050405020304" pitchFamily="18" charset="0"/>
              </a:rPr>
              <a:t>RAG Components: </a:t>
            </a:r>
            <a:r>
              <a:rPr lang="en-IN" sz="2000" dirty="0" err="1">
                <a:solidFill>
                  <a:schemeClr val="bg1"/>
                </a:solidFill>
                <a:latin typeface="Times New Roman" panose="02020603050405020304" pitchFamily="18" charset="0"/>
                <a:cs typeface="Times New Roman" panose="02020603050405020304" pitchFamily="18" charset="0"/>
              </a:rPr>
              <a:t>LangChain</a:t>
            </a:r>
            <a:r>
              <a:rPr lang="en-IN" sz="2000" dirty="0">
                <a:solidFill>
                  <a:schemeClr val="bg1"/>
                </a:solidFill>
                <a:latin typeface="Times New Roman" panose="02020603050405020304" pitchFamily="18" charset="0"/>
                <a:cs typeface="Times New Roman" panose="02020603050405020304" pitchFamily="18" charset="0"/>
              </a:rPr>
              <a:t> / </a:t>
            </a:r>
            <a:r>
              <a:rPr lang="en-IN" sz="2000" dirty="0" err="1">
                <a:solidFill>
                  <a:schemeClr val="bg1"/>
                </a:solidFill>
                <a:latin typeface="Times New Roman" panose="02020603050405020304" pitchFamily="18" charset="0"/>
                <a:cs typeface="Times New Roman" panose="02020603050405020304" pitchFamily="18" charset="0"/>
              </a:rPr>
              <a:t>LlamaIndex</a:t>
            </a:r>
            <a:endParaRPr lang="en-IN" sz="2000" dirty="0">
              <a:solidFill>
                <a:schemeClr val="bg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sz="2000" dirty="0">
                <a:solidFill>
                  <a:schemeClr val="bg1"/>
                </a:solidFill>
                <a:latin typeface="Times New Roman" panose="02020603050405020304" pitchFamily="18" charset="0"/>
                <a:cs typeface="Times New Roman" panose="02020603050405020304" pitchFamily="18" charset="0"/>
              </a:rPr>
              <a:t>Vector Database: FAISS</a:t>
            </a:r>
          </a:p>
          <a:p>
            <a:pPr marL="742950" lvl="1" indent="-285750">
              <a:buFont typeface="Arial" panose="020B0604020202020204" pitchFamily="34" charset="0"/>
              <a:buChar char="•"/>
            </a:pPr>
            <a:r>
              <a:rPr lang="en-IN" sz="2000" dirty="0">
                <a:solidFill>
                  <a:schemeClr val="bg1"/>
                </a:solidFill>
                <a:latin typeface="Times New Roman" panose="02020603050405020304" pitchFamily="18" charset="0"/>
                <a:cs typeface="Times New Roman" panose="02020603050405020304" pitchFamily="18" charset="0"/>
              </a:rPr>
              <a:t>SLM: Quantized Phi-3 Mini / </a:t>
            </a:r>
            <a:r>
              <a:rPr lang="en-IN" sz="2000" dirty="0" err="1">
                <a:solidFill>
                  <a:schemeClr val="bg1"/>
                </a:solidFill>
                <a:latin typeface="Times New Roman" panose="02020603050405020304" pitchFamily="18" charset="0"/>
                <a:cs typeface="Times New Roman" panose="02020603050405020304" pitchFamily="18" charset="0"/>
              </a:rPr>
              <a:t>TinyLlama</a:t>
            </a:r>
            <a:r>
              <a:rPr lang="en-IN" sz="2000" dirty="0">
                <a:solidFill>
                  <a:schemeClr val="bg1"/>
                </a:solidFill>
                <a:latin typeface="Times New Roman" panose="02020603050405020304" pitchFamily="18" charset="0"/>
                <a:cs typeface="Times New Roman" panose="02020603050405020304" pitchFamily="18" charset="0"/>
              </a:rPr>
              <a:t> (GGUF)</a:t>
            </a:r>
          </a:p>
          <a:p>
            <a:pPr marL="742950" lvl="1" indent="-285750">
              <a:buFont typeface="Arial" panose="020B0604020202020204" pitchFamily="34" charset="0"/>
              <a:buChar char="•"/>
            </a:pPr>
            <a:r>
              <a:rPr lang="en-IN" sz="2000" dirty="0">
                <a:solidFill>
                  <a:schemeClr val="bg1"/>
                </a:solidFill>
                <a:latin typeface="Times New Roman" panose="02020603050405020304" pitchFamily="18" charset="0"/>
                <a:cs typeface="Times New Roman" panose="02020603050405020304" pitchFamily="18" charset="0"/>
              </a:rPr>
              <a:t>Inference Engine: </a:t>
            </a:r>
            <a:r>
              <a:rPr lang="en-IN" sz="2000" dirty="0" err="1">
                <a:solidFill>
                  <a:schemeClr val="bg1"/>
                </a:solidFill>
                <a:latin typeface="Times New Roman" panose="02020603050405020304" pitchFamily="18" charset="0"/>
                <a:cs typeface="Times New Roman" panose="02020603050405020304" pitchFamily="18" charset="0"/>
              </a:rPr>
              <a:t>Ollama</a:t>
            </a:r>
            <a:r>
              <a:rPr lang="en-IN" sz="2000" dirty="0">
                <a:solidFill>
                  <a:schemeClr val="bg1"/>
                </a:solidFill>
                <a:latin typeface="Times New Roman" panose="02020603050405020304" pitchFamily="18" charset="0"/>
                <a:cs typeface="Times New Roman" panose="02020603050405020304" pitchFamily="18" charset="0"/>
              </a:rPr>
              <a:t> / llama.cpp</a:t>
            </a:r>
          </a:p>
          <a:p>
            <a:pPr marL="742950" lvl="1" indent="-285750">
              <a:buFont typeface="Arial" panose="020B0604020202020204" pitchFamily="34" charset="0"/>
              <a:buChar char="•"/>
            </a:pPr>
            <a:r>
              <a:rPr lang="en-IN" sz="2000" dirty="0">
                <a:solidFill>
                  <a:schemeClr val="bg1"/>
                </a:solidFill>
                <a:latin typeface="Times New Roman" panose="02020603050405020304" pitchFamily="18" charset="0"/>
                <a:cs typeface="Times New Roman" panose="02020603050405020304" pitchFamily="18" charset="0"/>
              </a:rPr>
              <a:t>Deployment: Edge Device (CPU-based)</a:t>
            </a:r>
          </a:p>
          <a:p>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7ECC4F3-5AB0-25AB-565D-227E50947ECE}"/>
              </a:ext>
            </a:extLst>
          </p:cNvPr>
          <p:cNvSpPr txBox="1"/>
          <p:nvPr/>
        </p:nvSpPr>
        <p:spPr>
          <a:xfrm>
            <a:off x="0" y="3477875"/>
            <a:ext cx="12192000" cy="2554545"/>
          </a:xfrm>
          <a:prstGeom prst="rect">
            <a:avLst/>
          </a:prstGeom>
          <a:noFill/>
        </p:spPr>
        <p:txBody>
          <a:bodyPr wrap="square" rtlCol="0">
            <a:spAutoFit/>
          </a:bodyPr>
          <a:lstStyle/>
          <a:p>
            <a:endParaRPr lang="en-GB" sz="2000" b="1" u="sng" dirty="0">
              <a:latin typeface="Times New Roman" panose="02020603050405020304" pitchFamily="18" charset="0"/>
              <a:cs typeface="Times New Roman" panose="02020603050405020304" pitchFamily="18" charset="0"/>
            </a:endParaRPr>
          </a:p>
          <a:p>
            <a:pPr algn="ctr"/>
            <a:r>
              <a:rPr lang="en-GB" sz="2000" b="1" u="sng" dirty="0">
                <a:latin typeface="Times New Roman" panose="02020603050405020304" pitchFamily="18" charset="0"/>
                <a:cs typeface="Times New Roman" panose="02020603050405020304" pitchFamily="18" charset="0"/>
              </a:rPr>
              <a:t>  Expected Outcome  :</a:t>
            </a:r>
          </a:p>
          <a:p>
            <a:endParaRPr lang="en-GB"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Fast, low-latency failure diagnosis at the edge.</a:t>
            </a:r>
          </a:p>
          <a:p>
            <a:pPr marL="742950" lvl="1"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Context-aware retrieval of maintenance knowledge.</a:t>
            </a:r>
          </a:p>
          <a:p>
            <a:pPr marL="742950" lvl="1"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Automated mitigation recommendations for operators.</a:t>
            </a:r>
          </a:p>
          <a:p>
            <a:pPr marL="742950" lvl="1"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Reduced dependency on cloud connectivity.</a:t>
            </a:r>
          </a:p>
          <a:p>
            <a:pPr marL="742950" lvl="1"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Improved assembly-line uptime and operational efficiency.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9817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75EA0E-E4ED-F3DB-A885-34D46D232995}"/>
              </a:ext>
            </a:extLst>
          </p:cNvPr>
          <p:cNvSpPr txBox="1"/>
          <p:nvPr/>
        </p:nvSpPr>
        <p:spPr>
          <a:xfrm>
            <a:off x="0" y="3198167"/>
            <a:ext cx="12192000" cy="769441"/>
          </a:xfrm>
          <a:prstGeom prst="rect">
            <a:avLst/>
          </a:prstGeom>
          <a:solidFill>
            <a:schemeClr val="tx1"/>
          </a:solidFill>
        </p:spPr>
        <p:txBody>
          <a:bodyPr wrap="square" rtlCol="0">
            <a:spAutoFit/>
          </a:bodyPr>
          <a:lstStyle/>
          <a:p>
            <a:pPr algn="ctr"/>
            <a:r>
              <a:rPr lang="en-GB" sz="4400" b="1" dirty="0">
                <a:solidFill>
                  <a:schemeClr val="bg2"/>
                </a:solidFill>
              </a:rPr>
              <a:t>THANK YOU!</a:t>
            </a:r>
            <a:endParaRPr lang="en-IN" sz="4400" b="1" dirty="0">
              <a:solidFill>
                <a:schemeClr val="bg2"/>
              </a:solidFill>
            </a:endParaRPr>
          </a:p>
        </p:txBody>
      </p:sp>
    </p:spTree>
    <p:extLst>
      <p:ext uri="{BB962C8B-B14F-4D97-AF65-F5344CB8AC3E}">
        <p14:creationId xmlns:p14="http://schemas.microsoft.com/office/powerpoint/2010/main" val="412842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docProps/app.xml><?xml version="1.0" encoding="utf-8"?>
<Properties xmlns="http://schemas.openxmlformats.org/officeDocument/2006/extended-properties" xmlns:vt="http://schemas.openxmlformats.org/officeDocument/2006/docPropsVTypes">
  <Template>TM03090430[[fn=Banded]]</Template>
  <TotalTime>166</TotalTime>
  <Words>638</Words>
  <Application>Microsoft Office PowerPoint</Application>
  <PresentationFormat>Widescreen</PresentationFormat>
  <Paragraphs>72</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Corbel</vt:lpstr>
      <vt:lpstr>Times New Roman</vt:lpstr>
      <vt:lpstr>Wingdings</vt:lpstr>
      <vt:lpstr>Banded</vt:lpstr>
      <vt:lpstr>P1: Deterministic MCP-Driven AI Agents for Ball Bearing Vibration Diagnostics  P2: Edge-Optimized RAG and Localized Failure Mitigation for Automated Assembly Lines Using Quantized SLM</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Arjun V P</dc:creator>
  <cp:lastModifiedBy>Arjun VP</cp:lastModifiedBy>
  <cp:revision>3</cp:revision>
  <dcterms:created xsi:type="dcterms:W3CDTF">2026-08-28T02:19:43Z</dcterms:created>
  <dcterms:modified xsi:type="dcterms:W3CDTF">2026-08-28T06:00:19Z</dcterms:modified>
</cp:coreProperties>
</file>